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FDA84C-89A1-26C0-D84E-B5EE031C7A80}" v="700" dt="2026-10-24T04:30:01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Image recognition </a:t>
            </a:r>
            <a:r>
              <a:rPr lang="en-US">
                <a:latin typeface="Times New Roman"/>
                <a:cs typeface="Times New Roman"/>
              </a:rPr>
              <a:t>neural</a:t>
            </a:r>
            <a:r>
              <a:rPr lang="en-US" dirty="0">
                <a:latin typeface="Times New Roman"/>
                <a:cs typeface="Times New Roman"/>
              </a:rPr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FEC11-6662-4FA0-E4A3-B0EAD62B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ea typeface="Calibri"/>
                <a:cs typeface="Times New Roman"/>
              </a:rPr>
              <a:t>MNIST Handwritten Digit Recognition Using Neural Networks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3EAD-072F-2E0B-C502-8D0A936AD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Course</a:t>
            </a:r>
            <a:r>
              <a:rPr lang="en-US" sz="1600" b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 Project: Artificial Intelligence / Machine Learning</a:t>
            </a: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Objective: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Build and compare three neural network architectures for handwritten digit recognition.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Models evaluated: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Shallow Multi-Layer Perceptron (MLP)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Convolutional Neural Network (CNN)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Transformer Encoder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Dataset: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MNIST handwritten digits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Framework: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PyTorch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and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torchvision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Execution environment: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Google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Colab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, CPU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14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C603-BEA7-5F17-987B-F145D5C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Problem Statement and Objectives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8D3B1-36D8-C123-930E-4C7574934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goal is to build a neural network that classifies handwritten digits from 0 to 9.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Each image is a 28 × 28 grayscale image. The model receives the image and predicts one of ten digit classes.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Project objectives: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Load the MNIST training and test datasets.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Implement three different neural network architectures.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Train each model using the training dataset.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Evaluate the models on the separate official test dataset.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Compare accuracy on clean and augmented images.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Analyze the strengths and limitations of each architecture.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234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C4BE-7BEE-3483-0DC5-0BA2E966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MNIST Dataset</a:t>
            </a:r>
            <a:endParaRPr lang="en-US" sz="2400">
              <a:solidFill>
                <a:srgbClr val="0F4761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4D7D4-E158-402C-29DA-C3E9A90C3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MNIST is a widely used dataset for handwritten digit recognition.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Dataset characteristics: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Total images: 70,000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Training images: 60,000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Test images: 10,000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Image dimensions: 28 × 28 pixels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Color channels: 1 (grayscale)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Number of classes: 10 (digits 0–9)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Data source: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torchvision.datasets.MNIST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, which downloads MNIST through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torchvision's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configured sources.</a:t>
            </a: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Important experimental rule: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The models were evaluated using the separate test dataset rather than training on the test images.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997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909B-4052-5EA7-BD4E-78DA496E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Data Loading and Preprocessing</a:t>
            </a:r>
            <a:endParaRPr lang="en-US" sz="2400">
              <a:solidFill>
                <a:srgbClr val="0F4761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0EA0-3465-9932-9A3B-31ED5E6A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experiments used 60,000 training examples and 10,000 test examples.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The images were converted into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PyTorch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tensors using 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transforms.ToTensor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().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This converts pixel values to a numerical representation suitable for neural network processing, generally scaling them to the range 0–1.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Data pipeline: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MNIST images → Tensor conversion → Model training → Test evaluation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training data was used to learn model parameters. The official test data was used to measure generalization to unseen examples.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optional augmented-image evaluation measured how well the trained models handled transformed images.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508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B98F-AB3C-457D-4374-99920B49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42" y="168056"/>
            <a:ext cx="10712668" cy="760633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Model 1 — Shallow Multi-Layer Perceptron (MLP)</a:t>
            </a:r>
            <a:endParaRPr lang="en-US" sz="2400">
              <a:solidFill>
                <a:srgbClr val="0F4761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D665F-DBD3-FA8D-9D1F-D7AB7ACD8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976" y="1024211"/>
            <a:ext cx="10515600" cy="55600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The MLP is a fully connected neural network that treats each image as a vector.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Architecture: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28 × 28 image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Flatten into 784 pixel values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Fully connected layer: 256 neurons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ReLU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activation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Dropout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Output layer: 10 classes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Predicted digit (0–9)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How it works: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/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The image is flattened into a one-dimensional vector containing 784 pixel values. Fully connected layers learn patterns that help distinguish the ten digit classes.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Advantages:</a:t>
            </a:r>
            <a:endParaRPr lang="en-US" sz="16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Simple architecture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Fast to train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Strong baseline for MNIST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Limitation: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Flattening the image does not explicitly preserve the spatial relationships between neighboring pixels.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139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608C2-4AC6-1A36-2B93-60244756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83" y="312573"/>
            <a:ext cx="8676290" cy="550426"/>
          </a:xfrm>
        </p:spPr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Model 2 — Convolutional Neural Network (CNN)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AE67-B3A4-2B3C-C97C-71843679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683" y="1030780"/>
            <a:ext cx="10515600" cy="58227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 CNN is designed to learn spatial patterns in images.</a:t>
            </a: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Architecture: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28 × 28 grayscale image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Convolutional layer: 32 filters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ReLU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activation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Max pooling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Convolutional layer: 64 filters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ReLU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 activation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Max pooling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Flatten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Fully connected layer: 128 neurons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Dropout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Output layer: 10 classes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How it works: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2"/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Convolutional filters learn local features such as edges, curves, and digit strokes. Pooling reduces the spatial dimensions of the feature maps.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2"/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final fully connected layers use these learned features to classify the digit.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819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65E5D-1530-016F-FF6B-C8BD416D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914400" lvl="2" indent="0">
              <a:buNone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Advantages:</a:t>
            </a:r>
            <a:endParaRPr lang="en-US" sz="1600" dirty="0">
              <a:latin typeface="Times New Roman"/>
              <a:cs typeface="Times New Roman"/>
            </a:endParaRPr>
          </a:p>
          <a:p>
            <a:pPr lvl="3"/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Preserves spatial structure</a:t>
            </a:r>
            <a:endParaRPr lang="en-US" sz="1600" dirty="0">
              <a:latin typeface="Times New Roman"/>
              <a:cs typeface="Times New Roman"/>
            </a:endParaRPr>
          </a:p>
          <a:p>
            <a:pPr lvl="3"/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Learns useful visual features</a:t>
            </a:r>
            <a:endParaRPr lang="en-US" sz="1600" dirty="0">
              <a:latin typeface="Times New Roman"/>
              <a:cs typeface="Times New Roman"/>
            </a:endParaRPr>
          </a:p>
          <a:p>
            <a:pPr lvl="3"/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Achieved the best accuracy in this experiment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455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4CB2-EEBB-BF66-8A1D-37077921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88"/>
          </a:xfrm>
        </p:spPr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Model 3 — Transformer Encoder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C0B15-6348-44CA-69A3-CA6336B9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38" y="1076764"/>
            <a:ext cx="11527220" cy="57702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Transformer model uses self-attention to learn relationships between different regions of an image.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Architecture concept: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28 × 28 image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Divide image into patches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Convert patches into tokens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Add positional information and a class token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Transformer encoder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Classification layer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Predicted digit (0–9)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None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How it works: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image is divided into small patches. Each patch is represented as a token, and self-attention helps the model learn relationships between different image regions.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None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Advantages: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2">
              <a:buFont typeface="Wingdings"/>
              <a:buChar char="§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Learns relationships between image regions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2">
              <a:buFont typeface="Wingdings"/>
              <a:buChar char="§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Provides an opportunity to explore attention-based image recognition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914400" lvl="2" indent="0">
              <a:buNone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Limitations: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3">
              <a:buFont typeface="Arial"/>
              <a:buChar char="•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May require more training or tuning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3">
              <a:buFont typeface="Arial"/>
              <a:buChar char="•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Can be less efficient than a CNN for small image datasets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In this experiment, the Transformer was trained for three epochs.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914400" lvl="2" indent="0">
              <a:buNone/>
            </a:pP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8395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B8B7-C2A2-5298-AC97-87DC2CE0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Training Configuration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0A7B4-854A-1972-BE50-05C58E0F0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All three models were trained using the CPU in Google </a:t>
            </a:r>
            <a:r>
              <a:rPr lang="en-US" sz="1600" dirty="0" err="1">
                <a:highlight>
                  <a:srgbClr val="FFE5E5"/>
                </a:highlight>
                <a:latin typeface="Times New Roman"/>
                <a:cs typeface="Times New Roman"/>
              </a:rPr>
              <a:t>Colab</a:t>
            </a:r>
            <a:endParaRPr lang="en-US" sz="1600" dirty="0">
              <a:highlight>
                <a:srgbClr val="FFE5E5"/>
              </a:highlight>
              <a:latin typeface="Times New Roman"/>
              <a:cs typeface="Times New Roman"/>
            </a:endParaRPr>
          </a:p>
          <a:p>
            <a:pPr lvl="8">
              <a:buFont typeface="Wingdings" panose="020B0604020202020204" pitchFamily="34" charset="0"/>
              <a:buChar char="§"/>
            </a:pPr>
            <a:endParaRPr lang="en-US" sz="1600" dirty="0">
              <a:highlight>
                <a:srgbClr val="FFE5E5"/>
              </a:highlight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608412-8232-B04C-489A-630E68213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64449"/>
              </p:ext>
            </p:extLst>
          </p:nvPr>
        </p:nvGraphicFramePr>
        <p:xfrm>
          <a:off x="1400175" y="2349327"/>
          <a:ext cx="5017806" cy="3688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4917">
                  <a:extLst>
                    <a:ext uri="{9D8B030D-6E8A-4147-A177-3AD203B41FA5}">
                      <a16:colId xmlns:a16="http://schemas.microsoft.com/office/drawing/2014/main" val="1542946654"/>
                    </a:ext>
                  </a:extLst>
                </a:gridCol>
                <a:gridCol w="2822889">
                  <a:extLst>
                    <a:ext uri="{9D8B030D-6E8A-4147-A177-3AD203B41FA5}">
                      <a16:colId xmlns:a16="http://schemas.microsoft.com/office/drawing/2014/main" val="368368959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Parameter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Configuration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17065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Dataset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MNIST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52371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Training examples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60,000 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29287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 examples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10,000 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72498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Number of epochs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5671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Batch size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128 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01715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Optimizer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Adam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88782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Learning rate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0.001 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6775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Loss function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Cross-entropy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8227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Official clean test set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95641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Additional evaluation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Augmented-image test set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013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56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6F83-CE84-12EC-9BE1-C030B03B9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Training process: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model receives a batch of training images.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It predicts the digit class for each image.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Cross-entropy loss measures prediction error.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optimizer updates the model's parameters.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process repeats for each training batch and epoch.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After each epoch, the model is evaluated on the test set.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78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9480-6101-8BE3-703E-8D86B28E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150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Experimental Results — Clean Test Accuracy</a:t>
            </a:r>
            <a:endParaRPr lang="en-US" sz="2400">
              <a:solidFill>
                <a:srgbClr val="0F4761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7CC4F-ED81-7B0A-D2C3-C4C65E77A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03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The following results were obtained from the three trained models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Key observations: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CNN achieved the highest final clean-test accuracy of </a:t>
            </a: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99.10%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MLP achieved </a:t>
            </a: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97.55%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accuracy, demonstrating that a relatively simple architecture can perform well on MNIST.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Transformer achieved </a:t>
            </a: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94.67%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accuracy after three epochs.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Transformer improved substantially from its first to its third epoch, suggesting that it was still learning useful representations.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The results indicate that the CNN was the strongest model in this particular experiment.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96AE58-1574-CFAB-172D-4BBF22A39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54165"/>
              </p:ext>
            </p:extLst>
          </p:nvPr>
        </p:nvGraphicFramePr>
        <p:xfrm>
          <a:off x="2223301" y="2347700"/>
          <a:ext cx="5316951" cy="1341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14995">
                  <a:extLst>
                    <a:ext uri="{9D8B030D-6E8A-4147-A177-3AD203B41FA5}">
                      <a16:colId xmlns:a16="http://schemas.microsoft.com/office/drawing/2014/main" val="3447602023"/>
                    </a:ext>
                  </a:extLst>
                </a:gridCol>
                <a:gridCol w="1071966">
                  <a:extLst>
                    <a:ext uri="{9D8B030D-6E8A-4147-A177-3AD203B41FA5}">
                      <a16:colId xmlns:a16="http://schemas.microsoft.com/office/drawing/2014/main" val="2310476019"/>
                    </a:ext>
                  </a:extLst>
                </a:gridCol>
                <a:gridCol w="1071966">
                  <a:extLst>
                    <a:ext uri="{9D8B030D-6E8A-4147-A177-3AD203B41FA5}">
                      <a16:colId xmlns:a16="http://schemas.microsoft.com/office/drawing/2014/main" val="180746336"/>
                    </a:ext>
                  </a:extLst>
                </a:gridCol>
                <a:gridCol w="1758024">
                  <a:extLst>
                    <a:ext uri="{9D8B030D-6E8A-4147-A177-3AD203B41FA5}">
                      <a16:colId xmlns:a16="http://schemas.microsoft.com/office/drawing/2014/main" val="1666420969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Model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Epoch 1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Epoch 2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Epoch 3 / Final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1832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MLP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96.22%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96.81%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97.55%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34144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CNN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98.58%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98.48%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99.10%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0382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Transformer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80.49%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92.66%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94.67%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024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703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F971-FB35-059B-7982-D2513FF7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Training Loss and Generalization</a:t>
            </a:r>
            <a:endParaRPr lang="en-US" sz="2400">
              <a:solidFill>
                <a:srgbClr val="0F4761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336C2-F3E9-DBA7-8B6E-D1BEB1840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165" y="1444625"/>
            <a:ext cx="11185635" cy="52775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Training loss decreased across the three epochs for all models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Interpretation: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MLP's training loss decreased steadily.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CNN reached the lowest final training loss.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Transformer also reduced its training loss substantially, but its final loss remained higher than those of the other models.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decreasing training loss indicates that the models learned patterns from the training data.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final test results show that the CNN generalized best to the official test set in this experiment.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Note: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Test loss did not decrease at every epoch for every model. This is not unusual; training and test performance can change differently during optimization.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E019A-73F7-EAFE-3566-BB91E13B6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424776"/>
              </p:ext>
            </p:extLst>
          </p:nvPr>
        </p:nvGraphicFramePr>
        <p:xfrm>
          <a:off x="1638901" y="2229331"/>
          <a:ext cx="5933457" cy="1341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0027">
                  <a:extLst>
                    <a:ext uri="{9D8B030D-6E8A-4147-A177-3AD203B41FA5}">
                      <a16:colId xmlns:a16="http://schemas.microsoft.com/office/drawing/2014/main" val="1833384871"/>
                    </a:ext>
                  </a:extLst>
                </a:gridCol>
                <a:gridCol w="2306715">
                  <a:extLst>
                    <a:ext uri="{9D8B030D-6E8A-4147-A177-3AD203B41FA5}">
                      <a16:colId xmlns:a16="http://schemas.microsoft.com/office/drawing/2014/main" val="2271392859"/>
                    </a:ext>
                  </a:extLst>
                </a:gridCol>
                <a:gridCol w="2306715">
                  <a:extLst>
                    <a:ext uri="{9D8B030D-6E8A-4147-A177-3AD203B41FA5}">
                      <a16:colId xmlns:a16="http://schemas.microsoft.com/office/drawing/2014/main" val="279845714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Epoch 1 Training Loss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Epoch 3 Training Loss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483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MLP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0.5244 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0.2018 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00381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CNN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0.3203 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0.0889 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39002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Transformer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1.3898 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0.4558 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671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39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A100-75DB-5260-C372-FED31FD1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Data Augmentation and Robustness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5C8A-6BD4-7524-8079-DFC755368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Data augmentation introduces image transformations, such as small rotations and translations, to assess how robust a model is to changes in image appearance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experiment measured accuracy on an augmented version of the test images in addition to the official clean test set.</a:t>
            </a:r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Key observations: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CNN achieved the highest accuracy on both clean and augmented images.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MLP experienced a larger reduction in accuracy on augmented images.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Transformer experienced the largest reduction in this experiment.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CNN's smaller accuracy reduction suggests that it handled the tested transformations more robustly.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Important distinction:</a:t>
            </a: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 Clean-test accuracy is the primary benchmark. Augmented-image accuracy is an additional robustness measurement and should not be substituted for the official test score.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sz="16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8660BB-556B-6CA1-0C9F-9C65AE4D5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61056"/>
              </p:ext>
            </p:extLst>
          </p:nvPr>
        </p:nvGraphicFramePr>
        <p:xfrm>
          <a:off x="1024758" y="2877206"/>
          <a:ext cx="9920366" cy="15296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67727">
                  <a:extLst>
                    <a:ext uri="{9D8B030D-6E8A-4147-A177-3AD203B41FA5}">
                      <a16:colId xmlns:a16="http://schemas.microsoft.com/office/drawing/2014/main" val="2863114104"/>
                    </a:ext>
                  </a:extLst>
                </a:gridCol>
                <a:gridCol w="2406511">
                  <a:extLst>
                    <a:ext uri="{9D8B030D-6E8A-4147-A177-3AD203B41FA5}">
                      <a16:colId xmlns:a16="http://schemas.microsoft.com/office/drawing/2014/main" val="1986006679"/>
                    </a:ext>
                  </a:extLst>
                </a:gridCol>
                <a:gridCol w="3376043">
                  <a:extLst>
                    <a:ext uri="{9D8B030D-6E8A-4147-A177-3AD203B41FA5}">
                      <a16:colId xmlns:a16="http://schemas.microsoft.com/office/drawing/2014/main" val="260842205"/>
                    </a:ext>
                  </a:extLst>
                </a:gridCol>
                <a:gridCol w="2770085">
                  <a:extLst>
                    <a:ext uri="{9D8B030D-6E8A-4147-A177-3AD203B41FA5}">
                      <a16:colId xmlns:a16="http://schemas.microsoft.com/office/drawing/2014/main" val="3895946180"/>
                    </a:ext>
                  </a:extLst>
                </a:gridCol>
              </a:tblGrid>
              <a:tr h="302646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Model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Clean Test Accuracy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Augmented-Image Accuracy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Difference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334568"/>
                  </a:ext>
                </a:extLst>
              </a:tr>
              <a:tr h="302646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MLP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97.55%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91.19%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−6.36 percentage points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438100"/>
                  </a:ext>
                </a:extLst>
              </a:tr>
              <a:tr h="302646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CNN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99.10%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96.99%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−2.11 percentage points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873001"/>
                  </a:ext>
                </a:extLst>
              </a:tr>
              <a:tr h="52381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Transformer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94.67%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82.98%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−11.69 percentage points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898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761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D159-160B-76FF-B513-28DA5F78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Model Comparison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25B0-24AE-1672-034D-D60CBEE8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F8358F-41F8-A05D-B36A-294DC0173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256107"/>
              </p:ext>
            </p:extLst>
          </p:nvPr>
        </p:nvGraphicFramePr>
        <p:xfrm>
          <a:off x="1418896" y="1556844"/>
          <a:ext cx="8795076" cy="35881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7119">
                  <a:extLst>
                    <a:ext uri="{9D8B030D-6E8A-4147-A177-3AD203B41FA5}">
                      <a16:colId xmlns:a16="http://schemas.microsoft.com/office/drawing/2014/main" val="518184915"/>
                    </a:ext>
                  </a:extLst>
                </a:gridCol>
                <a:gridCol w="3124939">
                  <a:extLst>
                    <a:ext uri="{9D8B030D-6E8A-4147-A177-3AD203B41FA5}">
                      <a16:colId xmlns:a16="http://schemas.microsoft.com/office/drawing/2014/main" val="411170791"/>
                    </a:ext>
                  </a:extLst>
                </a:gridCol>
                <a:gridCol w="1725079">
                  <a:extLst>
                    <a:ext uri="{9D8B030D-6E8A-4147-A177-3AD203B41FA5}">
                      <a16:colId xmlns:a16="http://schemas.microsoft.com/office/drawing/2014/main" val="2489130038"/>
                    </a:ext>
                  </a:extLst>
                </a:gridCol>
                <a:gridCol w="2417939">
                  <a:extLst>
                    <a:ext uri="{9D8B030D-6E8A-4147-A177-3AD203B41FA5}">
                      <a16:colId xmlns:a16="http://schemas.microsoft.com/office/drawing/2014/main" val="3793336824"/>
                    </a:ext>
                  </a:extLst>
                </a:gridCol>
              </a:tblGrid>
              <a:tr h="346298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Criterion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MLP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99942"/>
                  </a:ext>
                </a:extLst>
              </a:tr>
              <a:tr h="34629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Final clean accuracy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97.55%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99.10%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94.67%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705341"/>
                  </a:ext>
                </a:extLst>
              </a:tr>
              <a:tr h="34629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Augmented accuracy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91.19%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96.99%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82.98%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715278"/>
                  </a:ext>
                </a:extLst>
              </a:tr>
              <a:tr h="57716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Learns spatial features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Indirectly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Yes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Through patch attention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761309"/>
                  </a:ext>
                </a:extLst>
              </a:tr>
              <a:tr h="34629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Main operation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Fully connected layers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Convolution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Self-attention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315706"/>
                  </a:ext>
                </a:extLst>
              </a:tr>
              <a:tr h="34629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Main strength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Simplicity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Image feature extraction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Relationships between patches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079284"/>
                  </a:ext>
                </a:extLst>
              </a:tr>
              <a:tr h="346298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Main limitation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Loses explicit spatial structure when flattened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More complex than MLP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May need more training and tuning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2167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B04E72-6103-78E3-B480-47BBC1AC7B38}"/>
              </a:ext>
            </a:extLst>
          </p:cNvPr>
          <p:cNvSpPr txBox="1"/>
          <p:nvPr/>
        </p:nvSpPr>
        <p:spPr>
          <a:xfrm>
            <a:off x="840828" y="5360276"/>
            <a:ext cx="101884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>
                <a:solidFill>
                  <a:srgbClr val="000000"/>
                </a:solidFill>
                <a:latin typeface="Times New Roman"/>
              </a:rPr>
              <a:t>Overall result:</a:t>
            </a:r>
            <a:r>
              <a:rPr lang="en-US" sz="1600" b="0" i="0">
                <a:solidFill>
                  <a:srgbClr val="000000"/>
                </a:solidFill>
                <a:latin typeface="Times New Roman"/>
              </a:rPr>
              <a:t> The CNN outperformed the MLP and Transformer in both clean-test accuracy and augmented-image accuracy under the tested configuration.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endParaRPr lang="en-US" sz="1600" dirty="0">
              <a:latin typeface="Times New Roman"/>
              <a:cs typeface="Times New Roman"/>
            </a:endParaRPr>
          </a:p>
          <a:p>
            <a:pPr algn="ctr"/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7992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8637-4868-1BFF-0A35-462B918F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166" y="73517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experiment highlights the importance of choosing a suitable architecture for image recognition.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Why did the CNN perform best?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Convolutional layers learn local visual features and preserve the spatial structure of images. These properties are well suited to handwritten digit recognition.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Why did the MLP still perform well?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MNIST is a relatively simple image classification problem. Even a shallow fully connected network can learn useful relationships between pixel values and digit classes.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Why might the Transformer have performed less well?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compact Transformer was trained for only three epochs. It may benefit from additional training, tuning, or a different patch configuration. Its lower accuracy does not establish that Transformers are generally inferior to CNNs.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What did augmentation reveal?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All three models performed worse on transformed images than on clean images. The CNN experienced the smallest reduction, suggesting greater robustness to the transformations used.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0706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B7C4-3EC7-EA8F-1E8B-4477D270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392"/>
          </a:xfrm>
        </p:spPr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Limitations and Future Improvements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83531-9264-016F-F9C3-872049A2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34" y="140521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Limitations: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Each model was trained for only three epochs.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Training was performed on the CPU.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architectures and hyperparameters were not exhaustively tuned.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Results are from the reported runs; multiple random-seed runs were not provided.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Augmented-image accuracy depends on the transformations applied.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Future improvements: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Train the models for more epochs.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Compare training time and computational cost.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Tune the learning rate and model dimensions.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Test additional rotations and translations.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Plot training and test loss across epochs.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Display correctly classified and misclassified digits.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Repeat experiments with multiple random seeds.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These experiments could help determine whether the observed differences persist under more extensive training and tuning.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718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E5AA-D94C-0BBD-3E95-E18270BD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solidFill>
                  <a:srgbClr val="0F4761"/>
                </a:solidFill>
                <a:latin typeface="Times New Roman"/>
                <a:cs typeface="Times New Roman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8A2F3-172A-70C7-F2B4-592871A65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This project compared three neural network architectures for MNIST handwritten digit recognition: a shallow MLP, a CNN, and a Transformer encoder.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results were: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CNN: 99.10% clean-test accuracy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MLP: 97.55% clean-test accuracy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Transformer: 94.67% clean-test accuracy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CNN also achieved the highest augmented-image accuracy at 96.99%.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The experiment demonstrates that convolutional neural networks are particularly effective for this handwritten digit classification task under the tested settings. It also shows how augmented-image evaluation can provide additional insight into model robustness.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Future experiments with more training, tuning, and repeated runs could provide a more comprehensive comparison</a:t>
            </a:r>
            <a:endParaRPr lang="en-US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8176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Image recognition neural network</vt:lpstr>
      <vt:lpstr>MNIST Handwritten Digit Recognition Using Neural Networks</vt:lpstr>
      <vt:lpstr>Problem Statement and Objectives</vt:lpstr>
      <vt:lpstr>MNIST Dataset</vt:lpstr>
      <vt:lpstr>Data Loading and Preprocessing</vt:lpstr>
      <vt:lpstr>Model 1 — Shallow Multi-Layer Perceptron (MLP)</vt:lpstr>
      <vt:lpstr>Model 2 — Convolutional Neural Network (CNN)</vt:lpstr>
      <vt:lpstr>PowerPoint Presentation</vt:lpstr>
      <vt:lpstr>Model 3 — Transformer Encoder</vt:lpstr>
      <vt:lpstr>Training Configuration</vt:lpstr>
      <vt:lpstr>PowerPoint Presentation</vt:lpstr>
      <vt:lpstr>Experimental Results — Clean Test Accuracy</vt:lpstr>
      <vt:lpstr>Training Loss and Generalization</vt:lpstr>
      <vt:lpstr>Data Augmentation and Robustness</vt:lpstr>
      <vt:lpstr>Model Comparison</vt:lpstr>
      <vt:lpstr>PowerPoint Presentation</vt:lpstr>
      <vt:lpstr>Limitations and Future Improvements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295</cp:revision>
  <dcterms:created xsi:type="dcterms:W3CDTF">2026-10-24T03:35:10Z</dcterms:created>
  <dcterms:modified xsi:type="dcterms:W3CDTF">2026-10-24T04:36:14Z</dcterms:modified>
</cp:coreProperties>
</file>